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6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709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16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56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99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57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1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5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79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49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82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74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1.05465" TargetMode="External"/><Relationship Id="rId2" Type="http://schemas.openxmlformats.org/officeDocument/2006/relationships/hyperlink" Target="https://www.microsoft.com/en-us/research/blog/phi-2-the-surprising-power-of-small-language-model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502.0064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4928"/>
            <a:ext cx="7772400" cy="1470025"/>
          </a:xfrm>
        </p:spPr>
        <p:txBody>
          <a:bodyPr>
            <a:noAutofit/>
          </a:bodyPr>
          <a:lstStyle/>
          <a:p>
            <a:r>
              <a:rPr sz="4400" dirty="0"/>
              <a:t>Evaluating Small Language Models </a:t>
            </a:r>
            <a:br>
              <a:rPr lang="en-IN" sz="5400" dirty="0"/>
            </a:br>
            <a:r>
              <a:rPr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 Summarization</a:t>
            </a:r>
            <a:r>
              <a:rPr lang="en-IN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tasks</a:t>
            </a:r>
            <a:endParaRPr sz="5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6915" y="3595599"/>
            <a:ext cx="6400800" cy="1752600"/>
          </a:xfrm>
        </p:spPr>
        <p:txBody>
          <a:bodyPr>
            <a:normAutofit/>
          </a:bodyPr>
          <a:lstStyle/>
          <a:p>
            <a:r>
              <a:rPr lang="en-US" sz="2000" dirty="0"/>
              <a:t>Implications and Factors Influencing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BF7F36-2894-0738-8BCE-B36CDE62C90E}"/>
              </a:ext>
            </a:extLst>
          </p:cNvPr>
          <p:cNvSpPr txBox="1"/>
          <p:nvPr/>
        </p:nvSpPr>
        <p:spPr>
          <a:xfrm>
            <a:off x="5397909" y="5084247"/>
            <a:ext cx="35396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MT2024096 Nakul Siwach	</a:t>
            </a:r>
          </a:p>
          <a:p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MT2024058 Himanshu Shivhare</a:t>
            </a:r>
          </a:p>
          <a:p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MT2024017 Aman Agarwal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74471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dirty="0"/>
              <a:t>Problem Statement</a:t>
            </a:r>
            <a:br>
              <a:rPr lang="en-IN" dirty="0"/>
            </a:b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Evaluating Small Language Models for News Summarization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3135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News summarization is vital for fast, reliable information access.</a:t>
            </a:r>
          </a:p>
          <a:p>
            <a:pPr marL="0" indent="0">
              <a:buNone/>
            </a:pPr>
            <a:r>
              <a:rPr sz="2400" dirty="0"/>
              <a:t>• Large LLMs provide high-quality summaries but are resource-intensive.</a:t>
            </a:r>
          </a:p>
          <a:p>
            <a:pPr marL="0" indent="0">
              <a:buNone/>
            </a:pPr>
            <a:r>
              <a:rPr sz="2400" dirty="0"/>
              <a:t>• Small LMs </a:t>
            </a:r>
            <a:r>
              <a:rPr lang="en-IN" sz="2400" dirty="0"/>
              <a:t>(≤300M parameters) </a:t>
            </a:r>
            <a:r>
              <a:rPr sz="2400" dirty="0"/>
              <a:t>are efficient but less studied for summarization.</a:t>
            </a:r>
          </a:p>
          <a:p>
            <a:pPr marL="0" indent="0">
              <a:buNone/>
            </a:pPr>
            <a:r>
              <a:rPr sz="2400" dirty="0"/>
              <a:t>• Research Question: Can small LMs achieve competitive performance for summarization tasks?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9579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Datasets:</a:t>
            </a:r>
          </a:p>
          <a:p>
            <a:pPr marL="0" indent="0">
              <a:buNone/>
            </a:pPr>
            <a:r>
              <a:rPr dirty="0"/>
              <a:t>   </a:t>
            </a:r>
            <a:r>
              <a:rPr lang="en-IN" dirty="0"/>
              <a:t> </a:t>
            </a:r>
            <a:r>
              <a:rPr dirty="0"/>
              <a:t>– CNN/</a:t>
            </a:r>
            <a:r>
              <a:rPr dirty="0" err="1"/>
              <a:t>DailyMail</a:t>
            </a:r>
            <a:r>
              <a:rPr dirty="0"/>
              <a:t>, X</a:t>
            </a:r>
            <a:r>
              <a:rPr lang="en-IN" dirty="0"/>
              <a:t>s</a:t>
            </a:r>
            <a:r>
              <a:rPr dirty="0"/>
              <a:t>um</a:t>
            </a:r>
            <a:endParaRPr lang="en-IN" dirty="0"/>
          </a:p>
          <a:p>
            <a:pPr marL="0" indent="0">
              <a:buNone/>
            </a:pPr>
            <a:r>
              <a:rPr dirty="0"/>
              <a:t>Models:</a:t>
            </a:r>
          </a:p>
          <a:p>
            <a:pPr marL="0" indent="0">
              <a:buNone/>
            </a:pPr>
            <a:r>
              <a:rPr sz="1800" dirty="0"/>
              <a:t>   </a:t>
            </a:r>
            <a:r>
              <a:rPr lang="en-IN" sz="1800" dirty="0"/>
              <a:t>  </a:t>
            </a:r>
            <a:r>
              <a:rPr sz="2400" dirty="0"/>
              <a:t>– </a:t>
            </a:r>
            <a:r>
              <a:rPr dirty="0"/>
              <a:t>FLAN-T5-small, FLAN-T5-base, BART-base</a:t>
            </a:r>
            <a:endParaRPr sz="1600" dirty="0"/>
          </a:p>
          <a:p>
            <a:pPr marL="0" indent="0">
              <a:buNone/>
            </a:pPr>
            <a:r>
              <a:rPr dirty="0"/>
              <a:t>Methods:</a:t>
            </a:r>
          </a:p>
          <a:p>
            <a:pPr marL="292608" lvl="1" indent="0">
              <a:buNone/>
            </a:pPr>
            <a:r>
              <a:rPr sz="1400" dirty="0"/>
              <a:t>   </a:t>
            </a:r>
            <a:r>
              <a:rPr dirty="0"/>
              <a:t>– </a:t>
            </a:r>
            <a:r>
              <a:rPr sz="2000" dirty="0"/>
              <a:t>Zero-shot prompting</a:t>
            </a:r>
          </a:p>
          <a:p>
            <a:pPr marL="292608" lvl="1" indent="0">
              <a:buNone/>
            </a:pPr>
            <a:r>
              <a:rPr sz="2000" dirty="0"/>
              <a:t>   – Few-shot prompting</a:t>
            </a:r>
          </a:p>
          <a:p>
            <a:pPr marL="292608" lvl="1" indent="0">
              <a:buNone/>
            </a:pPr>
            <a:r>
              <a:rPr sz="2000" dirty="0"/>
              <a:t>   – Fine-tuning and </a:t>
            </a:r>
            <a:r>
              <a:rPr sz="2000" dirty="0" err="1"/>
              <a:t>LoRA</a:t>
            </a:r>
            <a:r>
              <a:rPr sz="2000" dirty="0"/>
              <a:t> fine-tuning</a:t>
            </a:r>
          </a:p>
          <a:p>
            <a:pPr marL="0" indent="0">
              <a:buNone/>
            </a:pPr>
            <a:r>
              <a:rPr dirty="0"/>
              <a:t>Evaluation:</a:t>
            </a:r>
          </a:p>
          <a:p>
            <a:pPr marL="0" indent="0">
              <a:buNone/>
            </a:pPr>
            <a:r>
              <a:rPr dirty="0"/>
              <a:t>   </a:t>
            </a:r>
            <a:r>
              <a:rPr lang="en-IN" dirty="0"/>
              <a:t>     </a:t>
            </a:r>
            <a:r>
              <a:rPr sz="2400" dirty="0"/>
              <a:t>– </a:t>
            </a:r>
            <a:r>
              <a:rPr dirty="0"/>
              <a:t>ROUGE scores, </a:t>
            </a:r>
            <a:r>
              <a:rPr dirty="0" err="1"/>
              <a:t>BERTScore</a:t>
            </a:r>
            <a:endParaRPr lang="en-IN" sz="1600" dirty="0"/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43873CD-5867-774B-A207-525809EC99EF}"/>
              </a:ext>
            </a:extLst>
          </p:cNvPr>
          <p:cNvSpPr txBox="1">
            <a:spLocks/>
          </p:cNvSpPr>
          <p:nvPr/>
        </p:nvSpPr>
        <p:spPr>
          <a:xfrm>
            <a:off x="457200" y="1633438"/>
            <a:ext cx="8229600" cy="2261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300" dirty="0"/>
              <a:t>Proposed Approach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Evaluating Small Language Models for News Summarization</a:t>
            </a:r>
            <a:r>
              <a:rPr lang="en-US" sz="2000" dirty="0"/>
              <a:t> </a:t>
            </a:r>
            <a:br>
              <a:rPr lang="en-US" sz="4000" dirty="0"/>
            </a:br>
            <a:br>
              <a:rPr lang="en-US" sz="4000" b="1" dirty="0"/>
            </a:b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7BE48EF-76D0-63CE-AAB6-788D0975D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4124"/>
            <a:ext cx="8229600" cy="256622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Expected Outcomes</a:t>
            </a:r>
            <a:br>
              <a:rPr lang="en-IN" dirty="0"/>
            </a:br>
            <a:r>
              <a:rPr lang="en-US" sz="2200" dirty="0"/>
              <a:t>Evaluating Small Language Models for News Summarization</a:t>
            </a:r>
            <a:br>
              <a:rPr lang="en-IN" dirty="0"/>
            </a:br>
            <a:br>
              <a:rPr lang="en-US" b="1" dirty="0"/>
            </a:b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406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We anticipate that SLMs may produce shorter and more concise summaries.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We expect some small models to perform competitively with large models in news summarization.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Trade-off analysis:</a:t>
            </a:r>
          </a:p>
          <a:p>
            <a:pPr marL="685800" lvl="1" indent="-285750">
              <a:buFont typeface="Arial" panose="020B0604020202020204" pitchFamily="34" charset="0"/>
              <a:buChar char="•"/>
            </a:pPr>
            <a:r>
              <a:rPr lang="en-US" dirty="0"/>
              <a:t>   – Model size vs summarization quality</a:t>
            </a:r>
          </a:p>
          <a:p>
            <a:pPr marL="685800" lvl="1" indent="-285750">
              <a:buFont typeface="Arial" panose="020B0604020202020204" pitchFamily="34" charset="0"/>
              <a:buChar char="•"/>
            </a:pPr>
            <a:r>
              <a:rPr lang="en-US" dirty="0"/>
              <a:t>   – Zero-shot vs fine-tuned</a:t>
            </a:r>
          </a:p>
          <a:p>
            <a:pPr marL="685800" lvl="1" indent="-285750">
              <a:buFont typeface="Arial" panose="020B0604020202020204" pitchFamily="34" charset="0"/>
              <a:buChar char="•"/>
            </a:pPr>
            <a:r>
              <a:rPr lang="en-US" dirty="0"/>
              <a:t>   – Dataset size effects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Overall, we expect to show how to balance summarization quality with limited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Our project aims to provide benchmarks and guidelines for selecting the right SLMs.</a:t>
            </a:r>
          </a:p>
          <a:p>
            <a:pPr>
              <a:buFont typeface="Arial" panose="020B0604020202020204" pitchFamily="34" charset="0"/>
              <a:buChar char="•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C250E-53D5-08CE-15BC-4464F60C7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59" y="207946"/>
            <a:ext cx="7543800" cy="1450757"/>
          </a:xfrm>
        </p:spPr>
        <p:txBody>
          <a:bodyPr/>
          <a:lstStyle/>
          <a:p>
            <a:pPr algn="ctr"/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B32D0-49CD-9E83-3629-C67AFEA6E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099" y="1747412"/>
            <a:ext cx="7543801" cy="5110588"/>
          </a:xfrm>
        </p:spPr>
        <p:txBody>
          <a:bodyPr>
            <a:normAutofit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Phi-2: The surprising power of small language models</a:t>
            </a:r>
          </a:p>
          <a:p>
            <a:r>
              <a:rPr lang="en-IN" dirty="0">
                <a:hlinkClick r:id="rId2"/>
              </a:rPr>
              <a:t>https://www.microsoft.com/en-us/research/blog/phi-2-the-surprising-power-of-small-language-models/</a:t>
            </a:r>
            <a:endParaRPr lang="en-IN" dirty="0"/>
          </a:p>
          <a:p>
            <a:r>
              <a:rPr lang="en-US" dirty="0"/>
              <a:t>Small Language Models (SLMs) Can Still Pack a Punch: A survey </a:t>
            </a:r>
            <a:r>
              <a:rPr lang="en-IN" dirty="0">
                <a:hlinkClick r:id="rId3"/>
              </a:rPr>
              <a:t>https://arxiv.org/abs/2501.05465</a:t>
            </a:r>
            <a:endParaRPr lang="en-IN" dirty="0"/>
          </a:p>
          <a:p>
            <a:r>
              <a:rPr lang="en-US" dirty="0"/>
              <a:t>Evaluating Small Language Models for News Summarization: Implications and Factors Influencing Performance </a:t>
            </a:r>
            <a:r>
              <a:rPr lang="en-US" dirty="0">
                <a:hlinkClick r:id="rId4"/>
              </a:rPr>
              <a:t>https://arxiv.org/abs/2502.00641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71090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607</TotalTime>
  <Words>308</Words>
  <Application>Microsoft Office PowerPoint</Application>
  <PresentationFormat>On-screen Show (4:3)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Retrospect</vt:lpstr>
      <vt:lpstr>Evaluating Small Language Models  for Summarization tasks</vt:lpstr>
      <vt:lpstr>Problem Statement Evaluating Small Language Models for News Summarization </vt:lpstr>
      <vt:lpstr>PowerPoint Presentation</vt:lpstr>
      <vt:lpstr>Expected Outcomes Evaluating Small Language Models for News Summarization   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MT2024096 Nakul Siwach</cp:lastModifiedBy>
  <cp:revision>7</cp:revision>
  <dcterms:created xsi:type="dcterms:W3CDTF">2013-01-27T09:14:16Z</dcterms:created>
  <dcterms:modified xsi:type="dcterms:W3CDTF">2025-09-02T21:26:14Z</dcterms:modified>
  <cp:category/>
</cp:coreProperties>
</file>